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07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sistem ini mengubah data monitoring mentah PLTS IKN menjadi diagnosa engineering otomatis. Skala: 244 inverter, 5.370 string, data tiap 5 menit.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kalimat kunci: dari Excel mentah menjadi daftar masalah yang terprioritaskan. Tanpa server tambahan, hanya Colab +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pertanyaan operasional harian. Sebelum sistem ini, jawabannya butuh membuka banyak file Excel secara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Alur: Drive sebagai sumber data, Colab sebagai tempat eksekusi, pv_pipeline sebagai otak analisis, output kembali ke Drive. Enam langkah standar, bisa diulang siapa pun.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kelompok data: operasi (inverter &amp; energi), lingkungan (irradiance, suhu, hujan), referensi (cleaning, datasheet, konfigurasi). Semua dari Google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fondasi: daya per string dari V dan I, heatmap untuk melihat pola sekilas, dan PR sebagai metrik kesehatan standar. Baris gelap pada ilustrasi = string bermasalah yang langsung kelihatan.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Sepuluh detektor menutup spektrum masalah: dari yang jelas (mati total) sampai yang halus (soiling, shading, intermittent). Dua berbasis machine learning dan sengaja diposisikan sebagai pendukung.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Nilai jual penting untuk manajemen: sistem dirancang agar tidak menuduh yang salah — curtailment bukan fault, outage bukan soiling, dan alarm harus lolos gating + debounce.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yang paling dekat ke uang: berapa rupiah hilang per hari karena debu, kapan cleaning balik modal, dan string mana yang dibersihkan duluan. Matang per Juli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tools berbasis Python open-source + Google Colab/Drive — tidak ada lisensi berbayar maupun server tambahan. pvlib dan rdtools adalah pustaka standar industri PV.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Kiri: artefak konkret yang dihasilkan tiap analisis. Kanan: manfaat untuk operasi — dari deteksi dini sampai jejak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dua fase pertama praktis selesai; fase berikutnya adalah analitik lanjutan dan dashboard. Semua klaim di deck ini bisa ditelusuri ke dokumen teknis di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29159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402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0906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PLTS IKN · 194 inverter · 4.470 string dipantau otomatis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workflow, tools, metode, dan sumber data untuk review manajemen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Disusun: O&amp;M PLTS IKN · Juli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8806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7612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06418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75223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4029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12835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81641" y="630936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50447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19253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8058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56864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25670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94476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63282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32088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00894" y="630936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69699" y="630936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38505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07311" y="630936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76117" y="630936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844923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313729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82534" y="630936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251340" y="630936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720146" y="630936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0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8806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7612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06418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75223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44029" y="658368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812835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81641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50447" y="658368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219253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88058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56864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625670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94476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63282" y="658368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32088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500894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69699" y="658368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38505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907311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376117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844923" y="6583680"/>
            <a:ext cx="477950" cy="274320"/>
          </a:xfrm>
          <a:prstGeom prst="rect">
            <a:avLst/>
          </a:prstGeom>
          <a:solidFill>
            <a:srgbClr val="2E4165">
              <a:alpha val="6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313729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782534" y="6583680"/>
            <a:ext cx="477950" cy="274320"/>
          </a:xfrm>
          <a:prstGeom prst="rect">
            <a:avLst/>
          </a:prstGeom>
          <a:solidFill>
            <a:srgbClr val="F5A623">
              <a:alpha val="45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1251340" y="6583680"/>
            <a:ext cx="477950" cy="274320"/>
          </a:xfrm>
          <a:prstGeom prst="rect">
            <a:avLst/>
          </a:prstGeom>
          <a:solidFill>
            <a:srgbClr val="F5A623">
              <a:alpha val="90000"/>
            </a:srgbClr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720146" y="6583680"/>
            <a:ext cx="477950" cy="274320"/>
          </a:xfrm>
          <a:prstGeom prst="rect">
            <a:avLst/>
          </a:prstGeom>
          <a:solidFill>
            <a:srgbClr val="2E4165"/>
          </a:solidFill>
          <a:ln w="6350">
            <a:solidFill>
              <a:srgbClr val="1421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Sistem Ini &amp; Untuk Apa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analitik berbasis Python yang mengubah data mentah monitoring PLTS IKN menjadi diagnosa yang siap ditindaklanjuti: </a:t>
            </a:r>
            <a:r>
              <a:rPr lang="en-US" sz="15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mana yang bermasalah, mengapa, seberapa parah, dan mana yang harus diprioritaskan.</a:t>
            </a:r>
            <a:r>
              <a:rPr lang="en-US" sz="15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Berjalan di Google Colab dengan data dari Google Drive — tanpa infrastruktur server tambahan.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2702052" cy="1828800"/>
          </a:xfrm>
          <a:prstGeom prst="roundRect">
            <a:avLst>
              <a:gd name="adj" fmla="val 35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06040"/>
            <a:ext cx="2519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04088" y="3429000"/>
            <a:ext cx="2299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Huawei dalam 10 blok WB (±50 MW)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3844" y="2395728"/>
            <a:ext cx="2702052" cy="1828800"/>
          </a:xfrm>
          <a:prstGeom prst="roundRect">
            <a:avLst>
              <a:gd name="adj" fmla="val 35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5284" y="2606040"/>
            <a:ext cx="2519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5012" y="3429000"/>
            <a:ext cx="2299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string dipantau, resolusi data 5 menit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2395728"/>
            <a:ext cx="2702052" cy="1828800"/>
          </a:xfrm>
          <a:prstGeom prst="roundRect">
            <a:avLst>
              <a:gd name="adj" fmla="val 35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2606040"/>
            <a:ext cx="2519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45936" y="3429000"/>
            <a:ext cx="2299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 otomatis untuk 10 jenis masalah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5692" y="2395728"/>
            <a:ext cx="2702052" cy="1828800"/>
          </a:xfrm>
          <a:prstGeom prst="roundRect">
            <a:avLst>
              <a:gd name="adj" fmla="val 35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7132" y="2606040"/>
            <a:ext cx="2519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66860" y="3429000"/>
            <a:ext cx="2299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 cleaning: kerugian harian &amp; payback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956048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5127498"/>
            <a:ext cx="342900" cy="3429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28800" y="4846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tiap analisis: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(findings) dalam Excel siap review engineering, heatmap visual per inverter, grafik PR harian, dan laporan soiling dengan rekomendasi cleaning — semua tersimpan kembali ke Google Drive.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Diselesaikan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160520" cy="4892040"/>
          </a:xfrm>
          <a:prstGeom prst="roundRect">
            <a:avLst>
              <a:gd name="adj" fmla="val 153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terlalu besar untuk analisis manual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inverter · 5.370 string · data tiap 5 menit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baris Excel per hari dari monitoring Huawei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manual lambat, tidak konsisten, dan mudah melewatkan degradasi yang berjalan perlahan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37760" y="12984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yang harus dijawab setiap hari: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92040" y="1737360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196596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72" y="210769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99339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mati?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48072" y="2697480"/>
            <a:ext cx="2889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/ string mana yang tidak beroperasi, dan berapa lama downtime-nya?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39912" y="1737360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68512" y="196596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244" y="210769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54312" y="199339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abnormal?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695944" y="2697480"/>
            <a:ext cx="2889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mana yang berperilaku aneh dibanding string tetangganya sendiri?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92040" y="4215384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120640" y="444398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372" y="4585716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4471416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atau curtailment?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148072" y="5175504"/>
            <a:ext cx="2889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dengan PR rendah — karena kerusakan, atau pembatasan daya dari jaringan?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439912" y="4215384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68512" y="444398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0244" y="4585716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54312" y="4471416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cleaning?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695944" y="5175504"/>
            <a:ext cx="28895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kerugian akibat debu sudah melebihi biaya melakukan cleaning?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42032" cy="2286000"/>
          </a:xfrm>
          <a:prstGeom prst="roundRect">
            <a:avLst>
              <a:gd name="adj" fmla="val 28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591056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465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22376" y="27249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terpusat: Excel inverter, cuaca, generation, laporan cleaning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72384" y="2331720"/>
            <a:ext cx="274320" cy="36576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3374136" y="1371600"/>
            <a:ext cx="2542032" cy="2286000"/>
          </a:xfrm>
          <a:prstGeom prst="roundRect">
            <a:avLst>
              <a:gd name="adj" fmla="val 28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93592" y="1591056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7465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93592" y="27249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analisis dijalankan analyst — harian atau multi-hari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2331720"/>
            <a:ext cx="274320" cy="36576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2"/>
          <p:cNvSpPr/>
          <p:nvPr/>
        </p:nvSpPr>
        <p:spPr>
          <a:xfrm>
            <a:off x="6245352" y="1371600"/>
            <a:ext cx="2542032" cy="2286000"/>
          </a:xfrm>
          <a:prstGeom prst="roundRect">
            <a:avLst>
              <a:gd name="adj" fmla="val 2800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4808" y="1591056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174650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pv_pipeline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64808" y="27249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Python: perhitungan fisika + 10 detektor otomatis (M2)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14816" y="2331720"/>
            <a:ext cx="274320" cy="36576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2" name="Shape 17"/>
          <p:cNvSpPr/>
          <p:nvPr/>
        </p:nvSpPr>
        <p:spPr>
          <a:xfrm>
            <a:off x="9116568" y="1371600"/>
            <a:ext cx="2542032" cy="2286000"/>
          </a:xfrm>
          <a:prstGeom prst="roundRect">
            <a:avLst>
              <a:gd name="adj" fmla="val 280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36024" y="1591056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174650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36024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336024" y="27249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findings Excel / JSONL, laporan soiling &amp; PR — kembali ke Drive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0292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langkah dalam tiap analisis: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02920" y="4370832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30936" y="451713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4"/>
          <p:cNvSpPr/>
          <p:nvPr/>
        </p:nvSpPr>
        <p:spPr>
          <a:xfrm>
            <a:off x="630936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06424" y="44256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/ mount data dari Google Drive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70248" y="4370832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398264" y="451713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28"/>
          <p:cNvSpPr/>
          <p:nvPr/>
        </p:nvSpPr>
        <p:spPr>
          <a:xfrm>
            <a:off x="4398264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873752" y="44256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ID &amp; hitung daya string (P = V × I)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037576" y="4370832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165592" y="451713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2"/>
          <p:cNvSpPr/>
          <p:nvPr/>
        </p:nvSpPr>
        <p:spPr>
          <a:xfrm>
            <a:off x="8165592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8641080" y="44256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heatmap string per inverter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02920" y="5138928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30936" y="528523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36"/>
          <p:cNvSpPr/>
          <p:nvPr/>
        </p:nvSpPr>
        <p:spPr>
          <a:xfrm>
            <a:off x="630936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1106424" y="5193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detektor M2 sesuai konfigurasi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270248" y="5138928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398264" y="528523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0"/>
          <p:cNvSpPr/>
          <p:nvPr/>
        </p:nvSpPr>
        <p:spPr>
          <a:xfrm>
            <a:off x="4398264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4873752" y="5193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silang PR harian vs data curtailment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8037576" y="5138928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165592" y="528523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0" name="Text 44"/>
          <p:cNvSpPr/>
          <p:nvPr/>
        </p:nvSpPr>
        <p:spPr>
          <a:xfrm>
            <a:off x="8165592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8641080" y="5193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artefak &amp; perbarui baseline data sehat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Dikonsumsi Sistem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27632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Operasi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inverter Huawei per 5 menit — tegangan &amp; arus tiap string (PV1–PV28), status inverter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Generasi energi harian per blok WB (IKN Generation.xlsx)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busbar — indikasi curtailment (24,3 + 25,7 MW)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8536" y="137160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627632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7830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16642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Lingkungan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62856" y="246888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Irradiance POA — pyranometer di 5 weather station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Suhu modul PV &amp; suhu ambien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&amp; arah angin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Albedo (NSRDB TMY) dan curah hujan harian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74152" y="137160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627632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7830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9992" y="16642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Referensi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48472" y="246888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&amp; jadwal cleaning manual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panel — Jinko 625 Wp bifacial, 24–26 modul per string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YAML — peta string, geometri site, threshold detektor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</a:t>
            </a:r>
            <a:r>
              <a:rPr lang="en-US" sz="120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input tersimpan di Google Drive dan nama file sumber ikut dicatat di output — setiap temuan bisa ditelusuri kembali ke data mentahnya.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Data Mentah ke Indikator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806440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17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 per string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188366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(kW) = V × I ÷ 1000 — dihitung untuk maksimal 28 kanal string di tiap inverter, tiap 5 menit.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5806440" cy="1783080"/>
          </a:xfrm>
          <a:prstGeom prst="roundRect">
            <a:avLst>
              <a:gd name="adj" fmla="val 359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1455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string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" y="3511296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= PV1–PV28, kolom = waktu. Daya dinormalisasi terhadap string tetangga per timestamp, sehingga string yang lemah langsung terlihat. Slot kosong by-design ditandai agar tidak dikira rusak.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946904"/>
            <a:ext cx="5806440" cy="1463040"/>
          </a:xfrm>
          <a:prstGeom prst="roundRect">
            <a:avLst>
              <a:gd name="adj" fmla="val 4375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50932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Ratio (PR)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952" y="54589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= energi aktual ÷ (irradiance POA × kapasitas), dikoreksi suhu modul — metrik standar industri untuk kesehatan pembangkit.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20840" y="1371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Ilustrasi heatmap string (1 inverter, 1 hari)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1783080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39228" y="178308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54696" y="178308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0164" y="178308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1783080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1100" y="178308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16568" y="178308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32036" y="178308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47504" y="178308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62972" y="178308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178308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3908" y="178308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09376" y="1783080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24844" y="178308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40312" y="178308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783080"/>
            <a:ext cx="530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2098548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9228" y="209854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54696" y="209854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0164" y="2098548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85632" y="2098548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1100" y="209854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16568" y="209854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32036" y="2098548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47504" y="2098548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62972" y="209854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78440" y="209854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3908" y="209854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09376" y="209854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24844" y="209854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40312" y="209854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2414016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39228" y="2414016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54696" y="2414016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70164" y="241401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85632" y="241401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1100" y="2414016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241401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32036" y="241401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47504" y="241401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62972" y="241401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78440" y="2414016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93908" y="241401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09376" y="2414016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24844" y="241401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640312" y="2414016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23760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39228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54696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70164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85632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1100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16568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32036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47504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62972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78440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93908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09376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324844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640312" y="2729484"/>
            <a:ext cx="315468" cy="315468"/>
          </a:xfrm>
          <a:prstGeom prst="rect">
            <a:avLst/>
          </a:prstGeom>
          <a:solidFill>
            <a:srgbClr val="1421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2729484"/>
            <a:ext cx="530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PV4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223760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39228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54696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70164" y="3044952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85632" y="3044952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01100" y="3044952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16568" y="3044952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32036" y="3044952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47504" y="3044952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62972" y="3044952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78440" y="3044952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693908" y="3044952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009376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324844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40312" y="3044952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23760" y="336042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39228" y="3360420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854696" y="336042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70164" y="3360420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485632" y="3360420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801100" y="336042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16568" y="336042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32036" y="336042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747504" y="3360420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062972" y="336042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378440" y="3360420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693908" y="3360420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09376" y="336042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324844" y="336042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640312" y="3360420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23760" y="367588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39228" y="367588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854696" y="367588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170164" y="3675888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85632" y="3675888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01100" y="367588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16568" y="367588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432036" y="3675888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47504" y="3675888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62972" y="367588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378440" y="367588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693908" y="3675888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09376" y="3675888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324844" y="367588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640312" y="3675888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23760" y="3991356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39228" y="3991356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854696" y="3991356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170164" y="399135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485632" y="399135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801100" y="399135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116568" y="399135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32036" y="399135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747504" y="399135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062972" y="3991356"/>
            <a:ext cx="315468" cy="315468"/>
          </a:xfrm>
          <a:prstGeom prst="rect">
            <a:avLst/>
          </a:prstGeom>
          <a:solidFill>
            <a:srgbClr val="E8930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378440" y="3991356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693908" y="3991356"/>
            <a:ext cx="315468" cy="315468"/>
          </a:xfrm>
          <a:prstGeom prst="rect">
            <a:avLst/>
          </a:prstGeom>
          <a:solidFill>
            <a:srgbClr val="F5A62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009376" y="3991356"/>
            <a:ext cx="315468" cy="315468"/>
          </a:xfrm>
          <a:prstGeom prst="rect">
            <a:avLst/>
          </a:prstGeom>
          <a:solidFill>
            <a:srgbClr val="F7BC5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324844" y="3991356"/>
            <a:ext cx="315468" cy="315468"/>
          </a:xfrm>
          <a:prstGeom prst="rect">
            <a:avLst/>
          </a:prstGeom>
          <a:solidFill>
            <a:srgbClr val="FAD48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640312" y="3991356"/>
            <a:ext cx="315468" cy="315468"/>
          </a:xfrm>
          <a:prstGeom prst="rect">
            <a:avLst/>
          </a:prstGeom>
          <a:solidFill>
            <a:srgbClr val="FDEB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223760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39228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854696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70164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485632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01100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16568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32036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747504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062972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378440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693908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009376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324844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1640312" y="4306824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75120" y="4306824"/>
            <a:ext cx="530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PV27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7223760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539228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854696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170164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485632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801100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116568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432036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747504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062972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378440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93908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009376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324844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640312" y="4622292"/>
            <a:ext cx="315468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75120" y="4622292"/>
            <a:ext cx="530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PV28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7223760" y="498348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                     12:00                      18:00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7223760" y="5349240"/>
            <a:ext cx="256032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0" name="Text 168"/>
          <p:cNvSpPr/>
          <p:nvPr/>
        </p:nvSpPr>
        <p:spPr>
          <a:xfrm>
            <a:off x="7543800" y="5330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8503920" y="5349240"/>
            <a:ext cx="256032" cy="25603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2" name="Text 170"/>
          <p:cNvSpPr/>
          <p:nvPr/>
        </p:nvSpPr>
        <p:spPr>
          <a:xfrm>
            <a:off x="8823960" y="5330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Bermasalah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10104120" y="534924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424160" y="5330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kosong</a:t>
            </a:r>
            <a:endParaRPr lang="en-US" sz="1000" dirty="0"/>
          </a:p>
        </p:txBody>
      </p:sp>
      <p:sp>
        <p:nvSpPr>
          <p:cNvPr id="176" name="Text 173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177" name="Text 174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Detektor Otomatis (Famili M2)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422452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9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 yang dideteksi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kerja (ringkas)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 / string mati, downtime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Klasifikasi status &amp; persentase uptime; event downtime di-debounce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putus / rangkaian terbuka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Arus string ≈ 0 saat string tetangga aktif dan irradiance tinggi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Gangguan isolasi ke tanah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Tegangan-ke-tanah abnormal + perbandingan adaptif seluruh fleet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Resistance (Peer Z-score)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Resistansi tinggi, koneksi buruk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Resistansi tiap string dibandingkan string tetangga se-inverter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MPPT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lemah dalam satu MPPT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 arus terhadap partner se-MPPT (&lt; 0,85 → temuan)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Bayangan pagi / sore / merata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Variasi antar string per jam + proxy PR terhadap POA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Irradiance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Underperform saat irradiance rendah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 PR vs POA dianalisis terpisah di band rendah &amp; menengah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Kerugian debu / kotoran + ekonominya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rdtools SRR (Monte Carlo) atas PR harian terkoreksi suhu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 umum (machine learning)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fitur listrik; eksperimental — di luar findings utama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Intermittent (LSTM-AE)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Gangguan hilang-timbul (AI)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terlatih (Jul 2026); sinyal pendukung, bukan alarm utama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temuan membawa: </a:t>
            </a:r>
            <a:r>
              <a:rPr lang="en-US" sz="11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keparahan (CRITICAL → INFO), confidence, dan bukti pendukung — siap untuk review engineering.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4" name="Text 4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Pengaman Anti Salah Diagnosa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hanya berguna jika bisa dipercaya. Empat mekanisme menjaga akurasi: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2020824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17170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2184" y="2057400"/>
            <a:ext cx="4361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curtailment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52344"/>
            <a:ext cx="4956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dengan PR rendah dicek terhadap setpoint busbar &amp; data dispatch. Pembatasan daya dari jaringan tidak dilaporkan sebagai kerusakan.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9944" y="2020824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7170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1464" y="2057400"/>
            <a:ext cx="4361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availability untuk soiling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46520" y="2752344"/>
            <a:ext cx="4956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saat inverter outage dikeluarkan dari perhitungan soiling — downtime tidak terbaca sebagai “panel kotor”.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4032504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" y="4270248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4211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72184" y="4306824"/>
            <a:ext cx="4361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kondisi &amp; debounce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77240" y="5001768"/>
            <a:ext cx="4956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hanya berjalan pada kondisi valid (siang, irradiance &amp; elevasi matahari cukup) dan harus bertahan beberapa langkah waktu — menekan false alarm.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4032504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9944" y="4270248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442112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1464" y="4306824"/>
            <a:ext cx="4361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sehat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46520" y="5001768"/>
            <a:ext cx="4956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berlabel fault dikeluarkan dari baseline “sehat”, sehingga model AI berikutnya tidak belajar dari data rusak.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·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Soiling &amp; Ekonomi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27632"/>
            <a:ext cx="621792" cy="621792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dihitung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Soiling ratio harian via rdtools SRR (Monte Carlo) — hasil dengan confidence interval, bukan angka tunggal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harian dikoreksi suhu modul &amp; availability sebelum dianalisis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pemulihan diklasifikasi: cleaning manual vs hujan — gabungan laporan cleaning &amp; data curah hujan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 cleaning diukur dari PR sebelum vs sesudah kampanye — level plant dan per string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kerugian per bulan kalender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37160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5664" y="1627632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7830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6642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untuk keputusan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73952" y="246888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Kerugian nilai per hari = energi × tarif × soiling loss (Rp/hari)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= biaya cleaning ÷ kerugian harian → cleaning dilakukan saat menguntungkan, bukan sekadar terjadwal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cleaning per string — skor &amp; ranking, tim O&amp;M tahu mulai dari mana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Kerugian bulanan — bahan laporan kinerja &amp; anggaran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73952" y="5532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soiling_srr_*.xlsx (12 sheet analisis) + grafik trend “sawtooth”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yang Digunakan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2763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7785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2184" y="1645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Penyimpanan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notebook, tanpa server dedikasi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input / output terpusat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kerja analyst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37160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627632"/>
            <a:ext cx="603504" cy="60350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177850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645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Pustaka Utama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2856" y="2450592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data &amp; time series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pvlib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fisika surya: posisi matahari, POA, suhu sel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PyTorch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(iForest, LSTM-AE)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rdtools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soiling — pustaka open-source NREL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openpyxl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baca-tulis Excel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4152" y="137160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62763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1778508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3416" y="1645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&amp; Kontrol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48472" y="2450592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pv_pipeline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terpusat &amp; teruji, bukan tersebar di notebook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YAML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diubah tanpa menyentuh kode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teknis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dokumen per detektor (folder docs/)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Manfaat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4846320"/>
          </a:xfrm>
          <a:prstGeom prst="roundRect">
            <a:avLst>
              <a:gd name="adj" fmla="val 1321"/>
            </a:avLst>
          </a:prstGeom>
          <a:solidFill>
            <a:srgbClr val="F3F6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2763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7785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64592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rutin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string per inverter (visual harian)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harian — m2_findings_YYYYMMDD.xlsx + JSONL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availability lintas tanggal (rekap_m2e_allstrings.xlsx)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&amp; CSV PR harian, dengan label curtailment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soiling + grafik trend sawtooth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sehat (CSV / Parquet) — bahan pelatihan model AI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53912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operasional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9933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9672" y="1892808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dini kerusakan —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string / inverter terlihat sebelum menjadi kehilangan energi besar — prioritas O&amp;M jelas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19672" y="2752344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Diagnosa akurat —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tidak tertukar dengan curtailment, cuaca, atau slot kosong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7124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19672" y="361188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cleaning berbasis rupiah —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saat payback masuk akal, dengan urutan prioritas per string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45720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19672" y="4471416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audit lengkap —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temuan menyertakan bukti, severity, dan konfigurasi yang dipakai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5431536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19672" y="5330952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ke depan —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sehat &amp; artefak siap untuk dashboard dan model AI</a:t>
            </a:r>
            <a:endParaRPr lang="en-US" sz="1150" dirty="0"/>
          </a:p>
        </p:txBody>
      </p:sp>
      <p:sp>
        <p:nvSpPr>
          <p:cNvPr id="21" name="Text 1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22" name="Text 13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Saat Ini &amp; Arah ke Depan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79192" cy="3657600"/>
          </a:xfrm>
          <a:prstGeom prst="roundRect">
            <a:avLst>
              <a:gd name="adj" fmla="val 2389"/>
            </a:avLst>
          </a:prstGeom>
          <a:solidFill>
            <a:srgbClr val="22314F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755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" y="206654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Notebook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29260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harian di Colab berjalan stabil; semua output tersimpan kembali ke Drive.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4572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4572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79192" cy="3657600"/>
          </a:xfrm>
          <a:prstGeom prst="roundRect">
            <a:avLst>
              <a:gd name="adj" fmla="val 2389"/>
            </a:avLst>
          </a:prstGeom>
          <a:solidFill>
            <a:srgbClr val="22314F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755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7016" y="206654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Produktionisasi Detektor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7016" y="29260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Soiling matang (Jul 2026); LSTM-AE terlatih. Sisa: kalibrasi Isolation Forest &amp; gating curtailment menyeluruh.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57016" y="45720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557016" y="4572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SELESAI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679192" cy="3657600"/>
          </a:xfrm>
          <a:prstGeom prst="roundRect">
            <a:avLst>
              <a:gd name="adj" fmla="val 2389"/>
            </a:avLst>
          </a:prstGeom>
          <a:solidFill>
            <a:srgbClr val="22314F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755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206654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Lanjutan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1656" y="29260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LSTM-AE penuh, analisis bifacial gain, indikator degradasi &amp; atribusi kerugian.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91656" y="4572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C9D6EA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4572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1554480"/>
            <a:ext cx="2679192" cy="3657600"/>
          </a:xfrm>
          <a:prstGeom prst="roundRect">
            <a:avLst>
              <a:gd name="adj" fmla="val 2389"/>
            </a:avLst>
          </a:prstGeom>
          <a:solidFill>
            <a:srgbClr val="22314F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1755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26296" y="206654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Operasi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26296" y="29260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Streamlit, workflow alert (acknowledge / resolve), notifikasi event kritikal.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26296" y="4572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C9D6EA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4572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teknis: </a:t>
            </a: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prd.md · docs/M2_Family_Summary.md · docs/M2_RE_02–11 (1 dokumen per detektor) · M2_PV_Performance_Workbook.xlsx (46 sheet)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Analitik Performa PV String · PLTS IKN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1982</Words>
  <Application>Microsoft Office PowerPoint</Application>
  <PresentationFormat>Widescreen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Analitik Performa PV String - PLTS IKN</dc:title>
  <dc:subject>PptxGenJS Presentation</dc:subject>
  <dc:creator>Haidar</dc:creator>
  <cp:lastModifiedBy>Haidar</cp:lastModifiedBy>
  <cp:revision>3</cp:revision>
  <dcterms:created xsi:type="dcterms:W3CDTF">2026-07-11T07:59:01Z</dcterms:created>
  <dcterms:modified xsi:type="dcterms:W3CDTF">2026-07-11T09:27:46Z</dcterms:modified>
</cp:coreProperties>
</file>